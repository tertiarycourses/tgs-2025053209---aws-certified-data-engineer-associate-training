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841248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57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300" b="1">
                <a:solidFill>
                  <a:srgbClr val="161B26"/>
                </a:solidFill>
                <a:latin typeface="Arial"/>
              </a:rPr>
              <a:t>AWS Certified Data Engineer Associate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Arial"/>
              </a:rPr>
              <a:t>WSQ Course Code: TGS-2025053209
Conducted by Tertiary Infotech Academy Pte Ltd | UEN 201200696W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598932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1F6FEB"/>
                </a:solidFill>
                <a:latin typeface="Arial"/>
              </a:rPr>
              <a:t>Version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YOUR TRAINER -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1847088"/>
            <a:ext cx="3337560" cy="4206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" y="1847088"/>
            <a:ext cx="3337560" cy="91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1640" y="2450592"/>
            <a:ext cx="1508760" cy="1508760"/>
          </a:xfrm>
          <a:prstGeom prst="ellips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80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25196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8920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Arial"/>
              </a:rPr>
              <a:t>General Trainer template -
to be completed by the trainer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7720" y="1847088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1847088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965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258568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2596896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2596896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2715768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008376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3346703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17720" y="3346703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3465575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758183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4096511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17720" y="4096511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4215383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4507992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17720" y="4846320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17720" y="484632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4965192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5257800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17720" y="5596128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17720" y="5596128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571500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6007608"/>
            <a:ext cx="4343400" cy="15240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1901952"/>
            <a:ext cx="3337560" cy="3886200"/>
          </a:xfrm>
          <a:prstGeom prst="rect">
            <a:avLst/>
          </a:prstGeom>
          <a:solidFill>
            <a:srgbClr val="F4F7FB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1901952"/>
            <a:ext cx="333756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19072" y="2395728"/>
            <a:ext cx="1572768" cy="15727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800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15968"/>
            <a:ext cx="3337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92040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555B66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7720" y="1901952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17720" y="1901952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2020824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212848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926080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17720" y="292608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044952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36976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950208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17720" y="3950208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406908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261104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161B26"/>
                </a:solidFill>
                <a:latin typeface="Arial"/>
              </a:rPr>
              <a:t>WSQ courses on cloud, data engineering, automation and app development.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4974336"/>
            <a:ext cx="69037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17720" y="4974336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5093208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28523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Copyright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(c) 2026 Tertiary Infotech Academy Pte Ltd. All rights reserved.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Course materials are for registered learners only.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Do not redistribute without written permission.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2-DAY COURSE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Day 1: data lake foundation, ingestion, catalog, Athena, ETL, data quality, modeling.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Day 2: orchestration, governance, security, monitoring, cost, reliability, exam review.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Every concept maps to one or more hands-on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Course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Design secure and governed AWS data pipelines.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Select fit-for-purpose AWS data engineering services.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Prepare for AWS Certified Data Engineer Associate exam scenarios.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28800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28800"/>
            <a:ext cx="73152" cy="10332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08483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39" y="2176272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10332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4808" y="20848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176272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Participate actively - no question is too small.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73552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273552"/>
            <a:ext cx="73152" cy="10332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52958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39" y="3621024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273552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273552"/>
            <a:ext cx="73152" cy="10332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352958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621024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718304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18304"/>
            <a:ext cx="73152" cy="1033271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2688" y="4974336"/>
            <a:ext cx="530352" cy="53035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39" y="5065776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18304"/>
            <a:ext cx="5257800" cy="1033271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4718304"/>
            <a:ext cx="73152" cy="103327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64808" y="4974336"/>
            <a:ext cx="530352" cy="530352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065776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TRAQOM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AM, PM, and assessment attendance are mandatory.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Scan the trainer-provided QR code.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Minimum 75% attendance is required for funding eligibility.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LMS and Course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Slides, Learner Guide, labs, and assessment instructions are provided through the LMS.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Submit required assessment responses and feedback through the LMS.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Keep your lab evidence organized for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3327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Written/MCQ assessment and practical lab evidence.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Assessment is aligned to the eight labs.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61B26"/>
                </a:solidFill>
                <a:latin typeface="Arial"/>
              </a:rPr>
              <a:t>- Final review and weak-topic plan are completed in Lab 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2011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2304288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0779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161B26"/>
                </a:solidFill>
                <a:latin typeface="Arial"/>
              </a:rPr>
              <a:t>TRAQOM digital
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292608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555B66"/>
                </a:solidFill>
                <a:latin typeface="Arial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148840"/>
            <a:ext cx="2011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2304288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90779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161B26"/>
                </a:solidFill>
                <a:latin typeface="Arial"/>
              </a:rPr>
              <a:t>Assessment digital
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92608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555B66"/>
                </a:solidFill>
                <a:latin typeface="Arial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2148840"/>
            <a:ext cx="2011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39512" y="2304288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0779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161B26"/>
                </a:solidFill>
                <a:latin typeface="Arial"/>
              </a:rPr>
              <a:t>Sit WA then
Case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292608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555B66"/>
                </a:solidFill>
                <a:latin typeface="Arial"/>
              </a:rP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79" y="2148840"/>
            <a:ext cx="2011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34071" y="2304288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290779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161B26"/>
                </a:solidFill>
                <a:latin typeface="Arial"/>
              </a:rPr>
              <a:t>Submit answers on
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2608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555B66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2148840"/>
            <a:ext cx="2011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28632" y="2304288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90779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161B26"/>
                </a:solidFill>
                <a:latin typeface="Arial"/>
              </a:rPr>
              <a:t>Sign Assessment
Summary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864608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55B66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AWS Data Engineering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9377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Data lake: S3, IAM, KMS, Lake Formation.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Ingestion: Kinesis, DMS, DataSync, Transfer Family, EventBridge.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Processing and serving: Glue, Athena, Redshift, DynamoDB, OpenSearch, RDS.</a:t>
            </a:r>
          </a:p>
        </p:txBody>
      </p:sp>
      <p:pic>
        <p:nvPicPr>
          <p:cNvPr id="11" name="Picture 10" descr="azure-services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9377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Labs progress from foundation to operations.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Each lab produces notes, diagrams, tables, or review evidence.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The Learner Guide mirrors the lab sequence exactly.</a:t>
            </a:r>
          </a:p>
        </p:txBody>
      </p:sp>
      <p:pic>
        <p:nvPicPr>
          <p:cNvPr id="11" name="Picture 10" descr="azure-lab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Governance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9377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Design least privilege before creating resources.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Encrypt, classify, audit, and lifecycle data.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- Governance decisions recur across all labs.</a:t>
            </a:r>
          </a:p>
        </p:txBody>
      </p:sp>
      <p:pic>
        <p:nvPicPr>
          <p:cNvPr id="11" name="Picture 10" descr="azure-governanc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1: Account Safety, IAM, S3 Data Lake, and Data Formats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You are preparing an AWS data engineering workspace. The first step is to create secure access patterns and a clear S3 data lake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Configure a safe AWS learning baseline.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IAM roles, policies, and least privilege for data workloads.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Create an S3 data lake folder structure if permitted.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Compare CSV, JSON, and Parquet formats.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IAM and least-privilege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S3 data lake prefix structure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Data format comparison table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Encryption and cost safety notes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Sign in to the AWS account assigned by your trainer.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Confirm you are in the correct region.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Open IAM and review users, groups, roles, and policies.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Verify MFA is enabled where permitted.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Review least-privilege access for S3, Glue, Athena, and KMS.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Open S3.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Create a bucket only if your trainer permits it.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Enable default encryption.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Keep Block Public Access enabled.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Create prefixes named `raw/`, `curated/`, `analytics/`, and `logs/`.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Upload small sample CSV and JSON files to `raw/`.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Review object metadata and storage class.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Create a table comparing CSV, JSON, Parquet, and ORC.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Record which formats support efficient analytics better.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- 15. Open KMS and review customer managed key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- 16. Open Billing and confirm budget monitoring is available.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- 17. Save your notes.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explain how IAM, S3 prefixes, encryption, and file formats support a data lake foundation.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IAM and least-privilege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S3 data lake prefix structure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Data format comparison table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Encryption and cost safety notes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2: Data Ingestion with Kinesis, DMS, Transfer, and Event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Data platforms ingest files, events, database changes, and streams. This lab focuses on choosing appropriate AWS ingestion services and designing a simple ingestion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Compare batch, streaming, migration, and managed file transfer ingestion patterns.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Kinesis, DMS, DataSync, Transfer Family, and EventBridge.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Design an ingestion flow for common data sources.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Identify operational and cost considerations.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Ingestion service comparison table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Batch ingestion architecture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Streaming ingestion architecture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Monitoring and cost considerations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the Kinesis console.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Review Data Streams, Data Firehose, and Managed Service for Apache Flink use cases.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Record the difference between stream capture, delivery, and stream processing.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Open AWS Database Migration Service.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Review source, target, replication instance, and change data capture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Open AWS DataSync.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Review file migration and transfer use cases.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Open AWS Transfer Family.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Review SFTP, FTPS, and FTP managed transfer use cases.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Open EventBridge.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Review event bus, rule, schedule, and target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Create an ingestion pattern table for batch files, streaming events, database migration, CDC, managed file transfer, and scheduled events.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Draw a simple architecture for ingesting daily CSV files into S3 and cataloging them.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Draw a second architecture for streaming click events into S3 or analytics.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- 15. Identify monitoring points for each architecture.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- 16. Save your notes.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select ingestion services for common batch, streaming, migration, and file-transfer scenarios.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Ingestion service comparison table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Batch ingestion architecture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Streaming ingestion architecture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Monitoring and cost considerations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3: Glue Data Catalog, Crawlers, Athena, and Schema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A data lake needs searchable metadata before analysts and pipelines can query it. You will catalog sample data and run basic SQL with Athena.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Create or review a Glue Data Catalog database.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Use crawlers to discover schema if permitted.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Query cataloged data with Athena.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Understand partitions and schema evolution.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Glue database and crawler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Catalog table screenshot or schema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Athena SQL snippets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Partition and query-cost notes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AWS Glue.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Open Data Catalog databases.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Create a database only if your trainer permits it.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Review tables, columns, partitions, and schema metadata.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Open Crawlers.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Create a crawler for the S3 `raw/` prefix if permitted.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Assign or review the crawler IAM role.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Run the crawler.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Review the created table schema.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Open Athena.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Configure a query result location in S3 if required.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Select the Glue database.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Run a simple `SELECT *` query with a limit.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Run a count or group-by query.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- 15. Review query cost awareness based on scanned data.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- 16. Review how partitions reduce scanned data.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- 17. Add notes about schema evolution and crawler recrawls.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- 18. Save SQL snippets and screenshots.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explain how Glue Data Catalog and Athena support data discovery and serverless querying.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Glue database and crawler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Catalog table screenshot or schema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Athena SQL snippets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Partition and query-cost notes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4: Glue ETL, Data Quality, and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Raw data often needs cleaning, validation, transformation, and conversion to analytics-friendly formats. You will design or run a small ETL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Glue ETL job concepts.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Design a transform from raw to curated data.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Understand PySpark and visual ETL options.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Add data quality checks and output-format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ETL design notes or job screenshot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Raw-to-curated transformation checklist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Data quality rule list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Output format decision notes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AWS Glue ETL jobs.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Review visual ETL and script-based job options.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Create a job only if your trainer permits it.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Select S3 raw data as the source.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Choose a transform such as select fields, rename fields, drop nulls, or cast data types.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Choose S3 curated data as the target.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Select Parquet as the output format if assigned.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Review job parameters, worker type, bookmarks, retries, and logging.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Run the job only if permitted.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Open the target S3 prefix and review output files.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Open CloudWatch logs for job output.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Review AWS Glue Data Quality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Define quality rules such as non-null primary key, valid date format, row count threshold, or allowed value set.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Create a data quality checklist for the sample dataset.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- 15. Record when to use Glue, EMR, Lambda, or Athena CTAS for transformations.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- 16. Save your notes.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describe how Glue ETL transforms and validates data before analytics consumption.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ETL design notes or job screenshot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Raw-to-curated transformation checklist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Data quality rule list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Output format decision notes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5: Data Modeling with Redshift, DynamoDB, OpenSearch, and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Data engineers must choose storage and serving layers based on access patterns, scale, latency, and analytics requirements. This lab focuses on service selection and modeling tradeoffs.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Compare data modeling choices across AWS services.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Redshift, DynamoDB, OpenSearch, and RDS use cases.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Understand keys, distribution, sorting, indexing, and query patterns at a high level.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Match workload requirements to the right data store.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Data service selection table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Sample Redshift model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Sample DynamoDB key design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OpenSearch indexing notes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5: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Amazon Redshift.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Review cluster, serverless, database, schema, table, distribution, and sort key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Open DynamoDB.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Review table, partition key, sort key, item, global secondary index, and capacity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Open Amazon OpenSearch Service.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Review search and log analytics use cases.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Open Amazon RDS.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Review relational database use cases and managed backups.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Create a use-case table for warehouse analytics, operational NoSQL, search analytics, and relational applications.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For a sample order dataset, identify candidate Redshift fact and dimension tables.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5: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For a sample event lookup workload, identify a DynamoDB partition key and optional sort key.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For a document search workload, identify indexed fields for OpenSearch.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Record high-level backup, scaling, and security considerations for each service.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Save your notes.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5: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match data stores and modeling choices to query patterns and business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Data service selection table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Sample Redshift model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Sample DynamoDB key design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OpenSearch indexing notes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6: Pipeline Orchestration with Step Functions, MWAA, and EventBridge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Data pipelines need scheduling, sequencing, dependency management, error handling, and monitoring. This lab teaches orchestration design patterns.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Understand orchestration and scheduling choices.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Compare Step Functions, MWAA, Glue Workflows, and EventBridge.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Design pipeline dependencies, retries, and failure handling.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Create a simple workflow diagram.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Orchestration service comparison table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Daily pipeline design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Retry and failure-handling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Monitoring points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6: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AWS Step Functions.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Review state machines, tasks, choices, retries, catches, and executions.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Open Amazon Managed Workflows for Apache Airflow.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Review DAG, task, dependency, and environment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Open AWS Glue Workflows if available.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Review job and crawler orchestration.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Open EventBridge.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Review rules, schedules, events, and targets.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Create a comparison table for Step Functions, MWAA, Glue Workflows, and EventBridge.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Design a daily pipeline with steps for ingest, crawl, transform, quality check, query validation, and notification.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6: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Add retry and failure paths to the design.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Identify which service would trigger each step.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Identify which metrics or logs should be monitored.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Create a simple architecture diagram in your notes.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- 15. Save your design.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6: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design a simple data pipeline orchestration flow and justify the orchestration service choice.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Orchestration service comparison table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Daily pipeline design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Retry and failure-handling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Monitoring points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7: Security, Governance, Lake Formation, KMS, and Data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Data engineering work must protect sensitive data, control access, encrypt assets, and manage data lifecycle. This lab focuses on governance and security service choices.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data security controls for AWS data platforms.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Understand Lake Formation permissions.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KMS encryption and key policies.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Apply lifecycle, retention, and data governance concepts.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Data governance service table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Lake Formation permission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KMS encryption notes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Lifecycle and retention design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7: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IAM and review least-privilege roles for Glue, Athena, S3, and Lake Formation.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Open S3 and review bucket policies, access points, object ownership, and encryption.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Open KMS and review AWS managed keys and customer managed keys.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Review key policies and grants at a high level.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Open Lake Formation.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Review data lake administrators, databases, tables, permissions, and tag-based access control.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Review how Lake Formation differs from only using IAM and S3 bucket policies.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Create a governance table covering IAM, S3 policies, KMS, Lake Formation, CloudTrail, and Macie.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Open Amazon Macie if available and review sensitive data discovery use cases.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Review S3 lifecycle rules.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7: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Design lifecycle transitions for raw, curated, analytics, and archive data zones.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Define retention and deletion rules for a sample dataset.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Review CloudTrail auditing for data access changes.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Save your notes.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7: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able to explain how IAM, S3, KMS, Lake Formation, Macie, lifecycle rules, and audit logs protect data platforms.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Data governance service table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Lake Formation permission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KMS encryption notes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Lifecycle and retention design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8: Monitoring, Cost Optimization, Reliability, and Exam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61B26"/>
                </a:solidFill>
                <a:latin typeface="Arial"/>
              </a:rPr>
              <a:t>The final lab ties together operations, reliability, cost, and exam readiness for AWS data engineering workloads.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52120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Design monitoring for data pipelines.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Review cost optimization and reliability patterns.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Create an exam-domain revision map.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61B26"/>
                </a:solidFill>
                <a:latin typeface="Arial"/>
              </a:rPr>
              <a:t>- Complete timed certification-style practice.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7548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Monitoring plan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Cost optimization checklist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Reliability checklist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Timed practice score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Evidence: Weak-topic revision plan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8: Step-by-Step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- 1. Open CloudWatch.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- 2. Review metrics, logs, alarms, and dashboards.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- 3. Identify monitoring points for S3, Glue, Athena, Kinesis, Step Functions, and Redshift.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- 4. Open CloudTrail and review audit event concepts.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- 5. Open AWS Budgets and Cost Explorer.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- 6. Create a cost-control checklist for data pipelines.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- 7. Review cost drivers such as scanned data, ETL worker runtime, storage class, stream shard count, and warehouse capacity.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- 8. Create a reliability checklist covering retries, idempotency, dead-letter queues, partitioning, backup, and disaster recovery.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- 9. Review exam domains and map each lab to one or more domains.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- 10. Complete a timed 30-question practice set from trainer-provided questions or AWS practice resources.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8: Step-by-Step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0698480" cy="4526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- 11. Mark weak topics by domain.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- 12. Create a final revision plan.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- 13. Clean up temporary resources if instructed.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- 14. Save final notes.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8: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61B26"/>
                </a:solidFill>
                <a:latin typeface="Arial"/>
              </a:rPr>
              <a:t>You should be ready to explain AWS data engineering services, pipeline patterns, governance, operations, and exam-style scenario choices.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96926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Monitoring plan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Cost optimization checklist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Reliability checklist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Timed practice score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- Weak-topic revision plan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Exam Review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149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Map weak questions back to the lab that covered the service.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Prioritize scenario words: latency, cost, governance, throughput, retention.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Use Lab 8 to turn mistakes into a revision plan.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Take the Online AWS DEA Practice Exams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572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Reinforce AWS data engineering domains with realistic, exam-style questions before assessment day.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Use practice sets to test ingestion, transformation, orchestration, governance and operations.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Review mode helps you check the correct answer and revisit the concept after each question.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61B26"/>
                </a:solidFill>
                <a:latin typeface="Arial"/>
              </a:rPr>
              <a:t>- Complete the practice questions from Google Classroom, then bring difficult items to the review session.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Access and practise at: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509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Google Classroom &gt; Practice Exams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828800"/>
            <a:ext cx="5806440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1975104"/>
            <a:ext cx="219456" cy="21945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1975104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1975104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651760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AWS Certified Data Engineer Associate Practice Exams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324612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6168" y="3355848"/>
            <a:ext cx="64008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1">
                <a:solidFill>
                  <a:srgbClr val="555B66"/>
                </a:solidFill>
                <a:latin typeface="Arial"/>
              </a:rPr>
              <a:t>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16168" y="3529584"/>
            <a:ext cx="731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16168" y="3685032"/>
            <a:ext cx="786384" cy="274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49440" y="324612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9168" y="3355848"/>
            <a:ext cx="64008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1">
                <a:solidFill>
                  <a:srgbClr val="555B66"/>
                </a:solidFill>
                <a:latin typeface="Arial"/>
              </a:rPr>
              <a:t>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529584"/>
            <a:ext cx="731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>
                <a:solidFill>
                  <a:srgbClr val="161B26"/>
                </a:solidFill>
                <a:latin typeface="Arial"/>
              </a:rPr>
              <a:t>DEA-C01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59168" y="3685032"/>
            <a:ext cx="786384" cy="274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324612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7" y="3355848"/>
            <a:ext cx="64008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1">
                <a:solidFill>
                  <a:srgbClr val="555B66"/>
                </a:solidFill>
                <a:latin typeface="Arial"/>
              </a:rPr>
              <a:t>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7" y="3529584"/>
            <a:ext cx="731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>
                <a:solidFill>
                  <a:srgbClr val="161B26"/>
                </a:solidFill>
                <a:latin typeface="Arial"/>
              </a:rPr>
              <a:t>Class link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7" y="3685032"/>
            <a:ext cx="786384" cy="274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89320" y="4754880"/>
            <a:ext cx="173736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161B26"/>
                </a:solidFill>
                <a:latin typeface="Arial"/>
              </a:rPr>
              <a:t>Data Ingestion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4791456"/>
            <a:ext cx="219456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43800" y="4791456"/>
            <a:ext cx="1865376" cy="365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4754880"/>
            <a:ext cx="32004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555B66"/>
                </a:solidFill>
                <a:latin typeface="Arial"/>
              </a:rPr>
              <a:t>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919472"/>
            <a:ext cx="173736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161B26"/>
                </a:solidFill>
                <a:latin typeface="Arial"/>
              </a:rPr>
              <a:t>Transform &amp; Optimize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4956048"/>
            <a:ext cx="219456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43800" y="4956048"/>
            <a:ext cx="1426464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4919472"/>
            <a:ext cx="32004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555B66"/>
                </a:solidFill>
                <a:latin typeface="Arial"/>
              </a:rPr>
              <a:t>26%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084064"/>
            <a:ext cx="173736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161B26"/>
                </a:solidFill>
                <a:latin typeface="Arial"/>
              </a:rPr>
              <a:t>Orchestration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5120640"/>
            <a:ext cx="219456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3800" y="5120640"/>
            <a:ext cx="1207007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5084064"/>
            <a:ext cx="32004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555B66"/>
                </a:solidFill>
                <a:latin typeface="Arial"/>
              </a:rPr>
              <a:t>22%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248656"/>
            <a:ext cx="173736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161B26"/>
                </a:solidFill>
                <a:latin typeface="Arial"/>
              </a:rPr>
              <a:t>Security &amp; Governance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5285232"/>
            <a:ext cx="219456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5285232"/>
            <a:ext cx="987551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0" y="5248656"/>
            <a:ext cx="320040" cy="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70" b="0">
                <a:solidFill>
                  <a:srgbClr val="555B66"/>
                </a:solidFill>
                <a:latin typeface="Arial"/>
              </a:rPr>
              <a:t>18%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BEFORE YOU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Certification and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149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Complete final attendance and TRAQOM survey.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Confirm assessment submission on the LMS.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Delete temporary AWS resources and keep budget alerts active.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6217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49808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44752"/>
            <a:ext cx="106984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55B66"/>
                </a:solidFill>
                <a:latin typeface="Arial"/>
              </a:rPr>
              <a:t>AWS Certified Data Engineer Associate Training | TGS-2025053209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55B66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555B66"/>
                </a:solidFill>
                <a:latin typeface="Arial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149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Questions and recap.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Continue practicing with AWS documentation and exam-style scenarios.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61B26"/>
                </a:solidFill>
                <a:latin typeface="Arial"/>
              </a:rPr>
              <a:t>- Keep the lab guide as your revision checklist.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