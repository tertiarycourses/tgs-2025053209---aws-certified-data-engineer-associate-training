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"/>
            <a:ext cx="841248" cy="841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057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300" b="1">
                <a:solidFill>
                  <a:srgbClr val="161B26"/>
                </a:solidFill>
                <a:latin typeface="Arial"/>
              </a:rPr>
              <a:t>AWS Certified Data Engineer Associate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55B66"/>
                </a:solidFill>
                <a:latin typeface="Arial"/>
              </a:rPr>
              <a:t>WSQ Course Code: TGS-2025053209
Conducted by Tertiary Infotech Academy Pte Ltd | UEN 201200696W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598932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1F6FEB"/>
                </a:solidFill>
                <a:latin typeface="Arial"/>
              </a:rPr>
              <a:t>Version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YOUR TRAINER -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" y="1847088"/>
            <a:ext cx="3337560" cy="42062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6112" y="1847088"/>
            <a:ext cx="3337560" cy="9144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91640" y="2450592"/>
            <a:ext cx="1508760" cy="1508760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800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25196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8920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Arial"/>
              </a:rPr>
              <a:t>General Trainer template -
to be completed by the trainer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1847088"/>
            <a:ext cx="6903720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17720" y="1847088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96596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258568"/>
            <a:ext cx="4343400" cy="1524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2596896"/>
            <a:ext cx="6903720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17720" y="2596896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271576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3008376"/>
            <a:ext cx="4343400" cy="1524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3346703"/>
            <a:ext cx="6903720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17720" y="3346703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3465575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3758183"/>
            <a:ext cx="4343400" cy="1524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17720" y="4096511"/>
            <a:ext cx="6903720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17720" y="4096511"/>
            <a:ext cx="7315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4215383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4507992"/>
            <a:ext cx="4343400" cy="1524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17720" y="4846320"/>
            <a:ext cx="6903720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17720" y="484632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4965192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5257800"/>
            <a:ext cx="4343400" cy="1524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17720" y="5596128"/>
            <a:ext cx="6903720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17720" y="5596128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0" y="571500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6007608"/>
            <a:ext cx="4343400" cy="1524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1901952"/>
            <a:ext cx="3337560" cy="3886200"/>
          </a:xfrm>
          <a:prstGeom prst="rect">
            <a:avLst/>
          </a:prstGeom>
          <a:solidFill>
            <a:srgbClr val="F4F7FB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" y="1901952"/>
            <a:ext cx="333756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19072" y="2395728"/>
            <a:ext cx="1572768" cy="15727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800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315968"/>
            <a:ext cx="3337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92040"/>
            <a:ext cx="28163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555B66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1901952"/>
            <a:ext cx="6903720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17720" y="1901952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020824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21284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2926080"/>
            <a:ext cx="6903720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17720" y="2926080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3044952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QUALIFICATIONS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236976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PhD - specialises in AI, automation and software engineering.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3950208"/>
            <a:ext cx="6903720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17720" y="3950208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40690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DELIVERS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261104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WSQ courses on cloud, data engineering, automation and app development.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4974336"/>
            <a:ext cx="6903720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17720" y="4974336"/>
            <a:ext cx="7315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509320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FOUNDER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528523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Copyright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33272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161B26"/>
                </a:solidFill>
                <a:latin typeface="Arial"/>
              </a:rPr>
              <a:t>- (c) 2026 Tertiary Infotech Academy Pte Ltd. All rights reserved.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161B26"/>
                </a:solidFill>
                <a:latin typeface="Arial"/>
              </a:rPr>
              <a:t>- Course materials are for registered learners only.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161B26"/>
                </a:solidFill>
                <a:latin typeface="Arial"/>
              </a:rPr>
              <a:t>- Do not redistribute without written permission.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2-DAY COURSE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33272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161B26"/>
                </a:solidFill>
                <a:latin typeface="Arial"/>
              </a:rPr>
              <a:t>- Day 1: data lake foundation, ingestion, catalog, Athena, ETL, data quality, modeling.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161B26"/>
                </a:solidFill>
                <a:latin typeface="Arial"/>
              </a:rPr>
              <a:t>- Day 2: orchestration, governance, security, monitoring, cost, reliability, exam review.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161B26"/>
                </a:solidFill>
                <a:latin typeface="Arial"/>
              </a:rPr>
              <a:t>- Every concept maps to one or more hands-on labs.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Course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33272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161B26"/>
                </a:solidFill>
                <a:latin typeface="Arial"/>
              </a:rPr>
              <a:t>- Design secure and governed AWS data pipelines.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161B26"/>
                </a:solidFill>
                <a:latin typeface="Arial"/>
              </a:rPr>
              <a:t>- Select fit-for-purpose AWS data engineering services.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161B26"/>
                </a:solidFill>
                <a:latin typeface="Arial"/>
              </a:rPr>
              <a:t>- Prepare for AWS Certified Data Engineer Associate exam scenarios.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5257800" cy="103327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73152" cy="10332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208483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39" y="21762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5257800" cy="103327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73152" cy="10332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64808" y="20848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1762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Participate actively - no question is too small.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73552"/>
            <a:ext cx="5257800" cy="103327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273552"/>
            <a:ext cx="73152" cy="10332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2958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39" y="362102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273552"/>
            <a:ext cx="5257800" cy="103327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273552"/>
            <a:ext cx="73152" cy="10332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352958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62102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718304"/>
            <a:ext cx="5257800" cy="103327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718304"/>
            <a:ext cx="73152" cy="1033271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2688" y="4974336"/>
            <a:ext cx="530352" cy="5303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39" y="5065776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718304"/>
            <a:ext cx="5257800" cy="103327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4718304"/>
            <a:ext cx="73152" cy="1033271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64808" y="4974336"/>
            <a:ext cx="530352" cy="530352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5065776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TRAQOM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Digital Attendance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33272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161B26"/>
                </a:solidFill>
                <a:latin typeface="Arial"/>
              </a:rPr>
              <a:t>- AM, PM, and assessment attendance are mandatory.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161B26"/>
                </a:solidFill>
                <a:latin typeface="Arial"/>
              </a:rPr>
              <a:t>- Scan the trainer-provided QR code.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161B26"/>
                </a:solidFill>
                <a:latin typeface="Arial"/>
              </a:rPr>
              <a:t>- Minimum 75% attendance is required for funding eligibility.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LMS and Course Materials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33272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161B26"/>
                </a:solidFill>
                <a:latin typeface="Arial"/>
              </a:rPr>
              <a:t>- Slides, Learner Guide, labs, and assessment instructions are provided through the LMS.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161B26"/>
                </a:solidFill>
                <a:latin typeface="Arial"/>
              </a:rPr>
              <a:t>- Submit required assessment responses and feedback through the LMS.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161B26"/>
                </a:solidFill>
                <a:latin typeface="Arial"/>
              </a:rPr>
              <a:t>- Keep your lab evidence organized for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33272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161B26"/>
                </a:solidFill>
                <a:latin typeface="Arial"/>
              </a:rPr>
              <a:t>- Written/MCQ assessment and practical lab evidence.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161B26"/>
                </a:solidFill>
                <a:latin typeface="Arial"/>
              </a:rPr>
              <a:t>- Assessment is aligned to the eight labs.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161B26"/>
                </a:solidFill>
                <a:latin typeface="Arial"/>
              </a:rPr>
              <a:t>- Final review and weak-topic plan are completed in Lab 8.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Assessment Flow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201168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0392" y="2304288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07792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20" b="1">
                <a:solidFill>
                  <a:srgbClr val="161B26"/>
                </a:solidFill>
                <a:latin typeface="Arial"/>
              </a:rPr>
              <a:t>TRAQOM digital
attendance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768" y="292608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55B66"/>
                </a:solidFill>
                <a:latin typeface="Arial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148840"/>
            <a:ext cx="201168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44952" y="2304288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907792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20" b="1">
                <a:solidFill>
                  <a:srgbClr val="161B26"/>
                </a:solidFill>
                <a:latin typeface="Arial"/>
              </a:rPr>
              <a:t>Assessment digital
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0328" y="292608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55B66"/>
                </a:solidFill>
                <a:latin typeface="Arial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2148840"/>
            <a:ext cx="201168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39512" y="2304288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907792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20" b="1">
                <a:solidFill>
                  <a:srgbClr val="161B26"/>
                </a:solidFill>
                <a:latin typeface="Arial"/>
              </a:rPr>
              <a:t>Sit WA then
Case 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4888" y="292608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55B66"/>
                </a:solidFill>
                <a:latin typeface="Arial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79" y="2148840"/>
            <a:ext cx="201168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34071" y="2304288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2907792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20" b="1">
                <a:solidFill>
                  <a:srgbClr val="161B26"/>
                </a:solidFill>
                <a:latin typeface="Arial"/>
              </a:rPr>
              <a:t>Submit answers on
the LMS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292608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55B66"/>
                </a:solidFill>
                <a:latin typeface="Arial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64040" y="2148840"/>
            <a:ext cx="201168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28632" y="2304288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907792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20" b="1">
                <a:solidFill>
                  <a:srgbClr val="161B26"/>
                </a:solidFill>
                <a:latin typeface="Arial"/>
              </a:rPr>
              <a:t>Sign Assessment
Summary 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4864608"/>
            <a:ext cx="79552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5B66"/>
                </a:solidFill>
                <a:latin typeface="Arial"/>
              </a:rPr>
              <a:t>The TRAQOM QR code and LMS submission are both handled through the LMS/TMS portal.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AWS Data Engineering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49377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Data lake: S3, IAM, KMS, Lake Formation.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Ingestion: Kinesis, DMS, DataSync, Transfer Family, EventBridge.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Processing and serving: Glue, Athena, Redshift, DynamoDB, OpenSearch, RDS.</a:t>
            </a:r>
          </a:p>
        </p:txBody>
      </p:sp>
      <p:pic>
        <p:nvPicPr>
          <p:cNvPr id="11" name="Picture 10" descr="azure-services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83080"/>
            <a:ext cx="5212080" cy="29317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49377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Labs progress from foundation to operations.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Each lab produces notes, diagrams, tables, or review evidence.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The Learner Guide mirrors the lab sequence exactly.</a:t>
            </a:r>
          </a:p>
        </p:txBody>
      </p:sp>
      <p:pic>
        <p:nvPicPr>
          <p:cNvPr id="11" name="Picture 10" descr="azure-lab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83080"/>
            <a:ext cx="5212080" cy="29317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Governance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49377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Design least privilege before creating resources.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Encrypt, classify, audit, and lifecycle data.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Governance decisions recur across all labs.</a:t>
            </a:r>
          </a:p>
        </p:txBody>
      </p:sp>
      <p:pic>
        <p:nvPicPr>
          <p:cNvPr id="11" name="Picture 10" descr="azure-governance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83080"/>
            <a:ext cx="5212080" cy="29317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1: Account Safety, IAM, S3 Data Lake, and Data Formats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8308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61B26"/>
                </a:solidFill>
                <a:latin typeface="Arial"/>
              </a:rPr>
              <a:t>You are preparing an AWS data engineering workspace. The first step is to create secure access patterns and a clear S3 data lake structure.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521208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Configure a safe AWS learning baseline.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Review IAM roles, policies, and least privilege for data workloads.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Create an S3 data lake folder structure if permitted.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Compare CSV, JSON, and Parquet formats.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88920"/>
            <a:ext cx="475488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IAM and least-privilege notes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S3 data lake prefix structure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Data format comparison table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Encryption and cost safety notes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1: Step-by-Step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0698480" cy="4526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- 1. Sign in to the AWS account assigned by your trainer.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- 2. Confirm you are in the correct region.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- 3. Open IAM and review users, groups, roles, and policies.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- 4. Verify MFA is enabled where permitted.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- 5. Review least-privilege access for S3, Glue, Athena, and KMS.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- 6. Open S3.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- 7. Create a bucket only if your trainer permits it.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- 8. Enable default encryption.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- 9. Keep Block Public Access enabled.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- 10. Create prefixes named `raw/`, `curated/`, `analytics/`, and `logs/`.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1: Step-by-Step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0698480" cy="4526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- 11. Upload small sample CSV and JSON files to `raw/`.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- 12. Review object metadata and storage class.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- 13. Create a table comparing CSV, JSON, Parquet, and ORC.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- 14. Record which formats support efficient analytics better.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- 15. Open KMS and review customer managed key concepts.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- 16. Open Billing and confirm budget monitoring is available.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- 17. Save your notes.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1: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102412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61B26"/>
                </a:solidFill>
                <a:latin typeface="Arial"/>
              </a:rPr>
              <a:t>You should be able to explain how IAM, S3 prefixes, encryption, and file formats support a data lake foundation.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77639"/>
            <a:ext cx="969264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IAM and least-privilege notes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S3 data lake prefix structure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Data format comparison table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Encryption and cost safety notes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2: Data Ingestion with Kinesis, DMS, Transfer, and Event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8308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61B26"/>
                </a:solidFill>
                <a:latin typeface="Arial"/>
              </a:rPr>
              <a:t>Data platforms ingest files, events, database changes, and streams. This lab focuses on choosing appropriate AWS ingestion services and designing a simple ingestion pattern.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521208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Compare batch, streaming, migration, and managed file transfer ingestion patterns.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Review Kinesis, DMS, DataSync, Transfer Family, and EventBridge.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Design an ingestion flow for common data sources.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Identify operational and cost considerations.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88920"/>
            <a:ext cx="475488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Ingestion service comparison table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Batch ingestion architecture notes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Streaming ingestion architecture notes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Monitoring and cost considerations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2: Step-by-Step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0698480" cy="4526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- 1. Open the Kinesis console.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- 2. Review Data Streams, Data Firehose, and Managed Service for Apache Flink use cases.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- 3. Record the difference between stream capture, delivery, and stream processing.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- 4. Open AWS Database Migration Service.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- 5. Review source, target, replication instance, and change data capture concepts.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- 6. Open AWS DataSync.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- 7. Review file migration and transfer use cases.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- 8. Open AWS Transfer Family.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- 9. Review SFTP, FTPS, and FTP managed transfer use cases.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- 10. Open EventBridge.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2: Step-by-Step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0698480" cy="4526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- 11. Review event bus, rule, schedule, and target concepts.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- 12. Create an ingestion pattern table for batch files, streaming events, database migration, CDC, managed file transfer, and scheduled events.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- 13. Draw a simple architecture for ingesting daily CSV files into S3 and cataloging them.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- 14. Draw a second architecture for streaming click events into S3 or analytics.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- 15. Identify monitoring points for each architecture.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- 16. Save your notes.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2: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102412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61B26"/>
                </a:solidFill>
                <a:latin typeface="Arial"/>
              </a:rPr>
              <a:t>You should be able to select ingestion services for common batch, streaming, migration, and file-transfer scenarios.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77639"/>
            <a:ext cx="969264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Ingestion service comparison table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Batch ingestion architecture notes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Streaming ingestion architecture notes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Monitoring and cost considerations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3: Glue Data Catalog, Crawlers, Athena, and Schema Discovery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8308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61B26"/>
                </a:solidFill>
                <a:latin typeface="Arial"/>
              </a:rPr>
              <a:t>A data lake needs searchable metadata before analysts and pipelines can query it. You will catalog sample data and run basic SQL with Athena.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521208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Create or review a Glue Data Catalog database.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Use crawlers to discover schema if permitted.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Query cataloged data with Athena.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Understand partitions and schema evolution.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88920"/>
            <a:ext cx="475488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Glue database and crawler notes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Catalog table screenshot or schema notes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Athena SQL snippets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Partition and query-cost notes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3: Step-by-Step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0698480" cy="4526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- 1. Open AWS Glue.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- 2. Open Data Catalog databases.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- 3. Create a database only if your trainer permits it.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- 4. Review tables, columns, partitions, and schema metadata.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- 5. Open Crawlers.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- 6. Create a crawler for the S3 `raw/` prefix if permitted.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- 7. Assign or review the crawler IAM role.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- 8. Run the crawler.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- 9. Review the created table schema.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- 10. Open Athena.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3: Step-by-Step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0698480" cy="4526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- 11. Configure a query result location in S3 if required.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- 12. Select the Glue database.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- 13. Run a simple `SELECT *` query with a limit.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- 14. Run a count or group-by query.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- 15. Review query cost awareness based on scanned data.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- 16. Review how partitions reduce scanned data.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- 17. Add notes about schema evolution and crawler recrawls.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- 18. Save SQL snippets and screenshots.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3: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102412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61B26"/>
                </a:solidFill>
                <a:latin typeface="Arial"/>
              </a:rPr>
              <a:t>You should be able to explain how Glue Data Catalog and Athena support data discovery and serverless querying.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77639"/>
            <a:ext cx="969264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Glue database and crawler notes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Catalog table screenshot or schema notes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Athena SQL snippets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Partition and query-cost notes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4: Glue ETL, Data Quality, and Data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8308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61B26"/>
                </a:solidFill>
                <a:latin typeface="Arial"/>
              </a:rPr>
              <a:t>Raw data often needs cleaning, validation, transformation, and conversion to analytics-friendly formats. You will design or run a small ETL workflow.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521208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Review Glue ETL job concepts.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Design a transform from raw to curated data.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Understand PySpark and visual ETL options.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Add data quality checks and output-format decisions.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88920"/>
            <a:ext cx="475488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ETL design notes or job screenshot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Raw-to-curated transformation checklist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Data quality rule list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Output format decision notes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4: Step-by-Step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0698480" cy="4526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- 1. Open AWS Glue ETL jobs.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- 2. Review visual ETL and script-based job options.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- 3. Create a job only if your trainer permits it.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- 4. Select S3 raw data as the source.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- 5. Choose a transform such as select fields, rename fields, drop nulls, or cast data types.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- 6. Choose S3 curated data as the target.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- 7. Select Parquet as the output format if assigned.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- 8. Review job parameters, worker type, bookmarks, retries, and logging.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- 9. Run the job only if permitted.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- 10. Open the target S3 prefix and review output files.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4: Step-by-Step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0698480" cy="4526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- 11. Open CloudWatch logs for job output.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- 12. Review AWS Glue Data Quality concepts.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- 13. Define quality rules such as non-null primary key, valid date format, row count threshold, or allowed value set.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- 14. Create a data quality checklist for the sample dataset.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- 15. Record when to use Glue, EMR, Lambda, or Athena CTAS for transformations.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- 16. Save your notes.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4: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102412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61B26"/>
                </a:solidFill>
                <a:latin typeface="Arial"/>
              </a:rPr>
              <a:t>You should be able to describe how Glue ETL transforms and validates data before analytics consumption.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77639"/>
            <a:ext cx="969264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ETL design notes or job screenshot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Raw-to-curated transformation checklist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Data quality rule list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Output format decision notes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5: Data Modeling with Redshift, DynamoDB, OpenSearch, and 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8308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61B26"/>
                </a:solidFill>
                <a:latin typeface="Arial"/>
              </a:rPr>
              <a:t>Data engineers must choose storage and serving layers based on access patterns, scale, latency, and analytics requirements. This lab focuses on service selection and modeling tradeoffs.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521208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Compare data modeling choices across AWS services.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Review Redshift, DynamoDB, OpenSearch, and RDS use cases.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Understand keys, distribution, sorting, indexing, and query patterns at a high level.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Match workload requirements to the right data store.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88920"/>
            <a:ext cx="475488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Data service selection table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Sample Redshift model notes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Sample DynamoDB key design notes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OpenSearch indexing notes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5: Step-by-Step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0698480" cy="4526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- 1. Open Amazon Redshift.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- 2. Review cluster, serverless, database, schema, table, distribution, and sort key concepts.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- 3. Open DynamoDB.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- 4. Review table, partition key, sort key, item, global secondary index, and capacity concepts.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- 5. Open Amazon OpenSearch Service.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- 6. Review search and log analytics use cases.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- 7. Open Amazon RDS.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- 8. Review relational database use cases and managed backups.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- 9. Create a use-case table for warehouse analytics, operational NoSQL, search analytics, and relational applications.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- 10. For a sample order dataset, identify candidate Redshift fact and dimension tables.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5: Step-by-Step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0698480" cy="4526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- 11. For a sample event lookup workload, identify a DynamoDB partition key and optional sort key.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- 12. For a document search workload, identify indexed fields for OpenSearch.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- 13. Record high-level backup, scaling, and security considerations for each service.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- 14. Save your notes.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5: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102412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61B26"/>
                </a:solidFill>
                <a:latin typeface="Arial"/>
              </a:rPr>
              <a:t>You should be able to match data stores and modeling choices to query patterns and business requirements.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77639"/>
            <a:ext cx="969264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Data service selection table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Sample Redshift model notes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Sample DynamoDB key design notes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OpenSearch indexing notes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6: Pipeline Orchestration with Step Functions, MWAA, and EventBridge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8308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61B26"/>
                </a:solidFill>
                <a:latin typeface="Arial"/>
              </a:rPr>
              <a:t>Data pipelines need scheduling, sequencing, dependency management, error handling, and monitoring. This lab teaches orchestration design patterns.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521208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Understand orchestration and scheduling choices.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Compare Step Functions, MWAA, Glue Workflows, and EventBridge.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Design pipeline dependencies, retries, and failure handling.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Create a simple workflow diagram.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88920"/>
            <a:ext cx="475488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Orchestration service comparison table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Daily pipeline design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Retry and failure-handling notes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Monitoring points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6: Step-by-Step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0698480" cy="4526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- 1. Open AWS Step Functions.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- 2. Review state machines, tasks, choices, retries, catches, and executions.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- 3. Open Amazon Managed Workflows for Apache Airflow.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- 4. Review DAG, task, dependency, and environment concepts.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- 5. Open AWS Glue Workflows if available.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- 6. Review job and crawler orchestration.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- 7. Open EventBridge.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- 8. Review rules, schedules, events, and targets.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- 9. Create a comparison table for Step Functions, MWAA, Glue Workflows, and EventBridge.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- 10. Design a daily pipeline with steps for ingest, crawl, transform, quality check, query validation, and notification.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6: Step-by-Step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0698480" cy="4526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- 11. Add retry and failure paths to the design.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- 12. Identify which service would trigger each step.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- 13. Identify which metrics or logs should be monitored.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- 14. Create a simple architecture diagram in your notes.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- 15. Save your design.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6: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102412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61B26"/>
                </a:solidFill>
                <a:latin typeface="Arial"/>
              </a:rPr>
              <a:t>You should be able to design a simple data pipeline orchestration flow and justify the orchestration service choice.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77639"/>
            <a:ext cx="969264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Orchestration service comparison table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Daily pipeline design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Retry and failure-handling notes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Monitoring points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7: Security, Governance, Lake Formation, KMS, and Data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8308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61B26"/>
                </a:solidFill>
                <a:latin typeface="Arial"/>
              </a:rPr>
              <a:t>Data engineering work must protect sensitive data, control access, encrypt assets, and manage data lifecycle. This lab focuses on governance and security service choices.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521208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Review data security controls for AWS data platforms.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Understand Lake Formation permissions.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Review KMS encryption and key policies.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Apply lifecycle, retention, and data governance concepts.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88920"/>
            <a:ext cx="475488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Data governance service table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Lake Formation permission notes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KMS encryption notes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Lifecycle and retention design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7: Step-by-Step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0698480" cy="4526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- 1. Open IAM and review least-privilege roles for Glue, Athena, S3, and Lake Formation.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- 2. Open S3 and review bucket policies, access points, object ownership, and encryption.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- 3. Open KMS and review AWS managed keys and customer managed keys.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- 4. Review key policies and grants at a high level.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- 5. Open Lake Formation.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- 6. Review data lake administrators, databases, tables, permissions, and tag-based access control.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- 7. Review how Lake Formation differs from only using IAM and S3 bucket policies.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- 8. Create a governance table covering IAM, S3 policies, KMS, Lake Formation, CloudTrail, and Macie.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- 9. Open Amazon Macie if available and review sensitive data discovery use cases.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- 10. Review S3 lifecycle rules.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7: Step-by-Step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0698480" cy="4526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- 11. Design lifecycle transitions for raw, curated, analytics, and archive data zones.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- 12. Define retention and deletion rules for a sample dataset.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- 13. Review CloudTrail auditing for data access changes.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- 14. Save your notes.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7: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102412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61B26"/>
                </a:solidFill>
                <a:latin typeface="Arial"/>
              </a:rPr>
              <a:t>You should be able to explain how IAM, S3, KMS, Lake Formation, Macie, lifecycle rules, and audit logs protect data platforms.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77639"/>
            <a:ext cx="969264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Data governance service table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Lake Formation permission notes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KMS encryption notes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Lifecycle and retention design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8: Monitoring, Cost Optimization, Reliability, and Exam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8308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61B26"/>
                </a:solidFill>
                <a:latin typeface="Arial"/>
              </a:rPr>
              <a:t>The final lab ties together operations, reliability, cost, and exam readiness for AWS data engineering workloads.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521208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Design monitoring for data pipelines.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Review cost optimization and reliability patterns.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Create an exam-domain revision map.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Complete timed certification-style practice.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88920"/>
            <a:ext cx="475488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Monitoring plan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Cost optimization checklist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Reliability checklist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Timed practice score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Evidence: Weak-topic revision plan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8: Step-by-Step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0698480" cy="4526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- 1. Open CloudWatch.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- 2. Review metrics, logs, alarms, and dashboards.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- 3. Identify monitoring points for S3, Glue, Athena, Kinesis, Step Functions, and Redshift.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- 4. Open CloudTrail and review audit event concepts.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- 5. Open AWS Budgets and Cost Explorer.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- 6. Create a cost-control checklist for data pipelines.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- 7. Review cost drivers such as scanned data, ETL worker runtime, storage class, stream shard count, and warehouse capacity.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- 8. Create a reliability checklist covering retries, idempotency, dead-letter queues, partitioning, backup, and disaster recovery.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- 9. Review exam domains and map each lab to one or more domains.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- 10. Complete a timed 30-question practice set from trainer-provided questions or AWS practice resources.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8: Step-by-Step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0698480" cy="4526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- 11. Mark weak topics by domain.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- 12. Create a final revision plan.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- 13. Clean up temporary resources if instructed.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- 14. Save final notes.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8: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102412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61B26"/>
                </a:solidFill>
                <a:latin typeface="Arial"/>
              </a:rPr>
              <a:t>You should be ready to explain AWS data engineering services, pipeline patterns, governance, operations, and exam-style scenario choices.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77639"/>
            <a:ext cx="969264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Monitoring plan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Cost optimization checklist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Reliability checklist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Timed practice score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Weak-topic revision plan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CERTIFICATION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Exam Review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149840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161B26"/>
                </a:solidFill>
                <a:latin typeface="Arial"/>
              </a:rPr>
              <a:t>- Map weak questions back to the lab that covered the service.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61B26"/>
                </a:solidFill>
                <a:latin typeface="Arial"/>
              </a:rPr>
              <a:t>- Prioritize scenario words: latency, cost, governance, throughput, retention.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61B26"/>
                </a:solidFill>
                <a:latin typeface="Arial"/>
              </a:rPr>
              <a:t>- Use Lab 8 to turn mistakes into a revision plan.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PRACTICE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Take the Online AWS DEA Practice Exams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45720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Reinforce AWS data engineering domains with realistic, exam-style questions before assessment day.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Use practice sets to test ingestion, transformation, orchestration, governance and operations.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Review mode helps you check the correct answer and revisit the concept after each question.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Complete the practice questions from Google Classroom, then bring difficult items to the review session.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Access and practise at: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50992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Google Classroom &gt; Practice Exams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2120" y="1828800"/>
            <a:ext cx="580644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15000" y="1975104"/>
            <a:ext cx="219456" cy="21945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700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975104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161B26"/>
                </a:solidFill>
                <a:latin typeface="Arial"/>
              </a:rPr>
              <a:t>Tertiary Exams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975104"/>
            <a:ext cx="9144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51760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AWS Certified Data Engineer Associate Practice Exams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3246120"/>
            <a:ext cx="10058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6168" y="3355848"/>
            <a:ext cx="640080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50" b="1">
                <a:solidFill>
                  <a:srgbClr val="555B66"/>
                </a:solidFill>
                <a:latin typeface="Arial"/>
              </a:rPr>
              <a:t>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3529584"/>
            <a:ext cx="731520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>
                <a:solidFill>
                  <a:srgbClr val="161B26"/>
                </a:solidFill>
                <a:latin typeface="Arial"/>
              </a:rPr>
              <a:t>Practice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16168" y="3685032"/>
            <a:ext cx="786384" cy="274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49440" y="3246120"/>
            <a:ext cx="10058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59168" y="3355848"/>
            <a:ext cx="640080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50" b="1">
                <a:solidFill>
                  <a:srgbClr val="555B66"/>
                </a:solidFill>
                <a:latin typeface="Arial"/>
              </a:rPr>
              <a:t>FOCUS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3529584"/>
            <a:ext cx="731520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>
                <a:solidFill>
                  <a:srgbClr val="161B26"/>
                </a:solidFill>
                <a:latin typeface="Arial"/>
              </a:rPr>
              <a:t>DEA-C01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59168" y="3685032"/>
            <a:ext cx="786384" cy="274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92440" y="3246120"/>
            <a:ext cx="10058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02167" y="3355848"/>
            <a:ext cx="640080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50" b="1">
                <a:solidFill>
                  <a:srgbClr val="555B66"/>
                </a:solidFill>
                <a:latin typeface="Arial"/>
              </a:rPr>
              <a:t>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2167" y="3529584"/>
            <a:ext cx="731520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>
                <a:solidFill>
                  <a:srgbClr val="161B26"/>
                </a:solidFill>
                <a:latin typeface="Arial"/>
              </a:rPr>
              <a:t>Class link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02167" y="3685032"/>
            <a:ext cx="786384" cy="274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9320" y="4754880"/>
            <a:ext cx="1737360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70" b="0">
                <a:solidFill>
                  <a:srgbClr val="161B26"/>
                </a:solidFill>
                <a:latin typeface="Arial"/>
              </a:rPr>
              <a:t>Data Ingestion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43800" y="4791456"/>
            <a:ext cx="2194560" cy="365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43800" y="4791456"/>
            <a:ext cx="1865376" cy="365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29800" y="4754880"/>
            <a:ext cx="320040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70" b="0">
                <a:solidFill>
                  <a:srgbClr val="555B66"/>
                </a:solidFill>
                <a:latin typeface="Arial"/>
              </a:rPr>
              <a:t>34%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4919472"/>
            <a:ext cx="1737360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70" b="0">
                <a:solidFill>
                  <a:srgbClr val="161B26"/>
                </a:solidFill>
                <a:latin typeface="Arial"/>
              </a:rPr>
              <a:t>Transform &amp; Optimize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43800" y="4956048"/>
            <a:ext cx="2194560" cy="365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543800" y="4956048"/>
            <a:ext cx="1426464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29800" y="4919472"/>
            <a:ext cx="320040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70" b="0">
                <a:solidFill>
                  <a:srgbClr val="555B66"/>
                </a:solidFill>
                <a:latin typeface="Arial"/>
              </a:rPr>
              <a:t>26%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5084064"/>
            <a:ext cx="1737360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70" b="0">
                <a:solidFill>
                  <a:srgbClr val="161B26"/>
                </a:solidFill>
                <a:latin typeface="Arial"/>
              </a:rPr>
              <a:t>Orchestration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43800" y="5120640"/>
            <a:ext cx="2194560" cy="365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543800" y="5120640"/>
            <a:ext cx="1207007" cy="365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29800" y="5084064"/>
            <a:ext cx="320040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70" b="0">
                <a:solidFill>
                  <a:srgbClr val="555B66"/>
                </a:solidFill>
                <a:latin typeface="Arial"/>
              </a:rPr>
              <a:t>22%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5248656"/>
            <a:ext cx="1737360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70" b="0">
                <a:solidFill>
                  <a:srgbClr val="161B26"/>
                </a:solidFill>
                <a:latin typeface="Arial"/>
              </a:rPr>
              <a:t>Security &amp; Governance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43800" y="5285232"/>
            <a:ext cx="2194560" cy="365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43800" y="5285232"/>
            <a:ext cx="987551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29800" y="5248656"/>
            <a:ext cx="320040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70" b="0">
                <a:solidFill>
                  <a:srgbClr val="555B66"/>
                </a:solidFill>
                <a:latin typeface="Arial"/>
              </a:rPr>
              <a:t>18%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BEFORE YOU 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Certification and TRAQOM Survey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149840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161B26"/>
                </a:solidFill>
                <a:latin typeface="Arial"/>
              </a:rPr>
              <a:t>- Complete final attendance and TRAQOM survey.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61B26"/>
                </a:solidFill>
                <a:latin typeface="Arial"/>
              </a:rPr>
              <a:t>- Confirm assessment submission on the LMS.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61B26"/>
                </a:solidFill>
                <a:latin typeface="Arial"/>
              </a:rPr>
              <a:t>- Delete temporary AWS resources and keep budget alerts active.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106984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B66"/>
                </a:solidFill>
                <a:latin typeface="Arial"/>
              </a:rPr>
              <a:t>AWS Certified Data Engineer Associate Training | TGS-2025053209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55B66"/>
                </a:solidFill>
                <a:latin typeface="Arial"/>
              </a:rPr>
              <a:t>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149840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161B26"/>
                </a:solidFill>
                <a:latin typeface="Arial"/>
              </a:rPr>
              <a:t>- Questions and recap.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61B26"/>
                </a:solidFill>
                <a:latin typeface="Arial"/>
              </a:rPr>
              <a:t>- Continue practicing with AWS documentation and exam-style scenarios.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61B26"/>
                </a:solidFill>
                <a:latin typeface="Arial"/>
              </a:rPr>
              <a:t>- Keep the lab guide as your revision checklist.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